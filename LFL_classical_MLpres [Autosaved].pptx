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26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11575-6960-267B-416F-6D45DD42E4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F35318-41FF-8A6F-EAE0-F95ABEDAFD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9B49C-2C73-EC8E-2B07-D851ACE1A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0EF95-6768-B44F-A487-0FDDEF731201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24967-2147-D5FF-7547-3D50A52F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24784-237F-0D3C-561F-CF9FD0C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61599-457C-BE45-8F54-323010EFA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530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97597-EBC6-E4D1-BD96-243357CB3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1029F-AA33-5AB6-ABB1-010601EF7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92108-B2D7-9DC0-0681-0E4A65D7E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0EF95-6768-B44F-A487-0FDDEF731201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14B83-30AF-7423-8103-50781F3A7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3624D-E6B5-F659-7DB7-07A452356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61599-457C-BE45-8F54-323010EFA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09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497B3-20AE-F4F0-9B09-08FDF7499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223CDA-914C-1A6D-9647-DCB624D6F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C8B28-1061-232F-5E0D-8CAF24551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0EF95-6768-B44F-A487-0FDDEF731201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B2988-D8E8-397A-461F-4A4B0080D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8B557-92D9-130E-7EAF-F52E8FD69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61599-457C-BE45-8F54-323010EFA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558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44EAD-7706-C61D-54A6-1A23123A3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2BDAA-52C2-9B89-D17F-57B010EE94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4C79B-9048-F874-BE79-18B778146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DEBF6-9B8B-19B3-0A7A-930E37519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0EF95-6768-B44F-A487-0FDDEF731201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8C1F2B-0FB8-10F1-588D-EF6797F84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595A4F-3CAB-FB01-77AF-1CE2A0261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61599-457C-BE45-8F54-323010EFA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267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102C8-DAC2-02BE-675D-C78C74ACC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C3078-403E-6FDE-6F5F-5FCC9EF2B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C78503-9A79-3D7C-B694-AA6EF27073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39FAF6-C95A-AFDB-71FD-ABD3791CA9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B600D5-EB53-0CBB-42C7-1AB3EA4A7C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5698DF-C675-CE7C-560F-6CA3BE3FB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0EF95-6768-B44F-A487-0FDDEF731201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D54539-2DA2-DC18-4F9F-9F9852AD6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83A632-959F-A679-3851-271E945D2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61599-457C-BE45-8F54-323010EFA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940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21C80-59D3-39D8-FB2B-93E008C77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8CDCD6-2802-BD57-3FA7-93A7FE54E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0EF95-6768-B44F-A487-0FDDEF731201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FFFCB0-4580-92A8-6D94-DC8CBF293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C6F8D8-12C8-698C-03A9-E94B83E39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61599-457C-BE45-8F54-323010EFA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170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CCD17C-4911-65CE-B1D6-550237063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0EF95-6768-B44F-A487-0FDDEF731201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98CF67-334C-1C2F-D896-5FCDC50E6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9BA5E-7062-5965-08F8-4D83D3DF7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61599-457C-BE45-8F54-323010EFA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82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ACF0B-9731-27CC-10DB-2C3B6C630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EB16A-B359-A21B-2B97-18E4D6DDF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45522D-9E7B-40E4-E590-4BF23D8DBC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FB63F8-377A-9287-4B6B-154547DFD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0EF95-6768-B44F-A487-0FDDEF731201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40BB00-7E65-3680-6C8C-C3B43B48C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F673EA-423A-0780-E7A6-802FB254D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61599-457C-BE45-8F54-323010EFA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682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87B3A-3362-26CB-0D1E-3C87711BE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1D8850-DCBF-1781-9F1F-885EFB1087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1C8401-1876-EC23-E5D2-CF7494EB55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0FE241-2898-CFF6-E61B-3C7F75633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0EF95-6768-B44F-A487-0FDDEF731201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4BEBBC-AB34-1635-3A1C-D3BCF9B58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87DE13-9177-7AEA-CC71-B2B48001B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61599-457C-BE45-8F54-323010EFA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121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2B07F-109F-5586-53F7-A003155AC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8DC67D-0480-5BDC-F5B6-7951D085FE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A6077-DC73-EBFA-A95E-B92DB7DE5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0EF95-6768-B44F-A487-0FDDEF731201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F8574-C13A-F859-DB1D-037704480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24949-4C60-5950-785A-8F39CE64D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61599-457C-BE45-8F54-323010EFA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09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31469C-66EC-4548-373D-1356516BE3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B4C8B0-F41F-EDC0-5399-87B7D0113F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D3034-EC5F-626B-F9C9-CF3C8233C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0EF95-6768-B44F-A487-0FDDEF731201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5FB1C-1AFC-C963-348E-9CB478D3C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A5BE5-3D34-1A63-0367-1F641D7DB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61599-457C-BE45-8F54-323010EFA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294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8F1C9F-A070-9722-9DEC-27546238F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CA262-506C-F8C6-A169-D8FD0A9C1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CBE4D-C305-659F-8D75-F809993494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C0EF95-6768-B44F-A487-0FDDEF731201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5DDD6-60BD-F027-61CD-F8A68F8F9F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8CDEF-38FA-AAF2-56C0-B39E106879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961599-457C-BE45-8F54-323010EFA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460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51218-79B6-934F-8431-D26C795B55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LFL Classical ML Notification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5ACAA7-EC92-A7A3-3610-4BE19DB76A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10.04.2026</a:t>
            </a:r>
          </a:p>
        </p:txBody>
      </p:sp>
    </p:spTree>
    <p:extLst>
      <p:ext uri="{BB962C8B-B14F-4D97-AF65-F5344CB8AC3E}">
        <p14:creationId xmlns:p14="http://schemas.microsoft.com/office/powerpoint/2010/main" val="3864176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74AAF-19D6-0951-5B67-13FF539C7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73" y="-228000"/>
            <a:ext cx="10515600" cy="1325563"/>
          </a:xfrm>
        </p:spPr>
        <p:txBody>
          <a:bodyPr/>
          <a:lstStyle/>
          <a:p>
            <a:r>
              <a:rPr lang="en-US" dirty="0"/>
              <a:t>Assumptions and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BD188-CBFB-CF06-B9D0-DEEA32380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211" y="986352"/>
            <a:ext cx="11147854" cy="5216739"/>
          </a:xfrm>
        </p:spPr>
        <p:txBody>
          <a:bodyPr/>
          <a:lstStyle/>
          <a:p>
            <a:r>
              <a:rPr lang="en-US" dirty="0"/>
              <a:t>1. Frequency data collected every second across 3 directions</a:t>
            </a:r>
          </a:p>
          <a:p>
            <a:r>
              <a:rPr lang="en-US" dirty="0"/>
              <a:t>2. We know whether a process has resulted in a break or not</a:t>
            </a:r>
          </a:p>
          <a:p>
            <a:r>
              <a:rPr lang="en-US" dirty="0"/>
              <a:t>3. We want a </a:t>
            </a:r>
            <a:r>
              <a:rPr lang="en-US" i="1" dirty="0"/>
              <a:t>lightweight and interpretable </a:t>
            </a:r>
            <a:r>
              <a:rPr lang="en-US" dirty="0"/>
              <a:t>model that incorporates domain-knowledge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BC96FB-494E-B7B4-6CF2-6BED2B392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74269"/>
            <a:ext cx="7035112" cy="2997379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1395D4E6-A8EF-D93C-71F3-43603F4BE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6606" y="3720799"/>
            <a:ext cx="7355670" cy="313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608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BC0E8A1A-A1D7-E725-8445-D29A0B62AE5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7307" t="8692" r="37361" b="17419"/>
          <a:stretch>
            <a:fillRect/>
          </a:stretch>
        </p:blipFill>
        <p:spPr>
          <a:xfrm>
            <a:off x="40484" y="3736424"/>
            <a:ext cx="3743555" cy="10505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5C69FA-9E21-C6BE-AF61-3FC84DF0E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004" y="-28363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Pipeline</a:t>
            </a:r>
          </a:p>
        </p:txBody>
      </p:sp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5B1E4E93-B7E6-4B03-675B-D2A65742A8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43" t="8779" r="26759" b="8112"/>
          <a:stretch>
            <a:fillRect/>
          </a:stretch>
        </p:blipFill>
        <p:spPr>
          <a:xfrm>
            <a:off x="3163100" y="1060010"/>
            <a:ext cx="3481254" cy="1830872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95108B-C502-5382-334D-0FABAF1283E0}"/>
              </a:ext>
            </a:extLst>
          </p:cNvPr>
          <p:cNvCxnSpPr/>
          <p:nvPr/>
        </p:nvCxnSpPr>
        <p:spPr>
          <a:xfrm>
            <a:off x="89337" y="662151"/>
            <a:ext cx="120133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8E7EC9F-C86F-25B2-2CD1-6046B7998175}"/>
              </a:ext>
            </a:extLst>
          </p:cNvPr>
          <p:cNvSpPr txBox="1"/>
          <p:nvPr/>
        </p:nvSpPr>
        <p:spPr>
          <a:xfrm>
            <a:off x="1513614" y="652268"/>
            <a:ext cx="8596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Generate Interpretable Combination in Real Time (Simple Vector Dot Product)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EC4587E-BDB7-4C92-562D-EF4295550C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07" t="8692" r="37361" b="17419"/>
          <a:stretch>
            <a:fillRect/>
          </a:stretch>
        </p:blipFill>
        <p:spPr>
          <a:xfrm>
            <a:off x="7778006" y="1303143"/>
            <a:ext cx="3743555" cy="1050503"/>
          </a:xfrm>
          <a:prstGeom prst="rect">
            <a:avLst/>
          </a:prstGeom>
        </p:spPr>
      </p:pic>
      <p:sp>
        <p:nvSpPr>
          <p:cNvPr id="16" name="Right Arrow 15">
            <a:extLst>
              <a:ext uri="{FF2B5EF4-FFF2-40B4-BE49-F238E27FC236}">
                <a16:creationId xmlns:a16="http://schemas.microsoft.com/office/drawing/2014/main" id="{1B4D02E6-E408-3864-DF6D-84E6A2BA5E0F}"/>
              </a:ext>
            </a:extLst>
          </p:cNvPr>
          <p:cNvSpPr/>
          <p:nvPr/>
        </p:nvSpPr>
        <p:spPr>
          <a:xfrm>
            <a:off x="6833891" y="1672340"/>
            <a:ext cx="754578" cy="298113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D2572E9-AC27-C0BF-BD39-7C04C22C73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626" y="1403591"/>
            <a:ext cx="2651976" cy="8135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E2D9600-1E15-A8C5-57E3-9E2AA2553505}"/>
                  </a:ext>
                </a:extLst>
              </p:cNvPr>
              <p:cNvSpPr txBox="1"/>
              <p:nvPr/>
            </p:nvSpPr>
            <p:spPr>
              <a:xfrm>
                <a:off x="2808072" y="1585261"/>
                <a:ext cx="38888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E2D9600-1E15-A8C5-57E3-9E2AA25535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8072" y="1585261"/>
                <a:ext cx="38888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35288777-5CFB-81AB-3937-FA6D3719F837}"/>
              </a:ext>
            </a:extLst>
          </p:cNvPr>
          <p:cNvSpPr txBox="1"/>
          <p:nvPr/>
        </p:nvSpPr>
        <p:spPr>
          <a:xfrm>
            <a:off x="472813" y="2315015"/>
            <a:ext cx="24820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Weights on each Freq. </a:t>
            </a:r>
          </a:p>
          <a:p>
            <a:r>
              <a:rPr lang="en-US" sz="1600" dirty="0"/>
              <a:t>(Based on Operational Settings)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99B2C6-9908-0D73-CE59-0566A520FEDB}"/>
              </a:ext>
            </a:extLst>
          </p:cNvPr>
          <p:cNvSpPr txBox="1"/>
          <p:nvPr/>
        </p:nvSpPr>
        <p:spPr>
          <a:xfrm>
            <a:off x="3851888" y="2890882"/>
            <a:ext cx="2482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Incoming Frequency Data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116562-5F08-BF95-49F1-2E51C22370D6}"/>
              </a:ext>
            </a:extLst>
          </p:cNvPr>
          <p:cNvSpPr txBox="1"/>
          <p:nvPr/>
        </p:nvSpPr>
        <p:spPr>
          <a:xfrm>
            <a:off x="8746864" y="2438125"/>
            <a:ext cx="24820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(Interpretable) Frequency Combination Timeseries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1AF73E6-AE37-1897-3F34-7D147E92F77B}"/>
              </a:ext>
            </a:extLst>
          </p:cNvPr>
          <p:cNvCxnSpPr/>
          <p:nvPr/>
        </p:nvCxnSpPr>
        <p:spPr>
          <a:xfrm>
            <a:off x="89336" y="3337034"/>
            <a:ext cx="120133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D50D0BB-E7BE-D95A-AE38-C7B8DF3CFACF}"/>
              </a:ext>
            </a:extLst>
          </p:cNvPr>
          <p:cNvSpPr txBox="1"/>
          <p:nvPr/>
        </p:nvSpPr>
        <p:spPr>
          <a:xfrm>
            <a:off x="3595182" y="3358904"/>
            <a:ext cx="4108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 Pass Sliding Window to Small CNN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2A07C59-294B-DEA1-AF32-1C7C25A9C75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46400" t="8692" r="37361" b="17419"/>
          <a:stretch>
            <a:fillRect/>
          </a:stretch>
        </p:blipFill>
        <p:spPr>
          <a:xfrm>
            <a:off x="2685385" y="3736423"/>
            <a:ext cx="1098654" cy="105050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65C64FD-A4DD-9DB5-403C-B36968E8DFE3}"/>
              </a:ext>
            </a:extLst>
          </p:cNvPr>
          <p:cNvSpPr txBox="1"/>
          <p:nvPr/>
        </p:nvSpPr>
        <p:spPr>
          <a:xfrm>
            <a:off x="420416" y="4852019"/>
            <a:ext cx="3195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most recent n timepoints</a:t>
            </a:r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571C8658-1149-A4EA-AD3A-8D8DE8E2D8B9}"/>
              </a:ext>
            </a:extLst>
          </p:cNvPr>
          <p:cNvSpPr/>
          <p:nvPr/>
        </p:nvSpPr>
        <p:spPr>
          <a:xfrm>
            <a:off x="3841711" y="4107724"/>
            <a:ext cx="432278" cy="298113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D097650-5069-A1F9-0EF8-81DAB040840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48505" t="12713" r="39533" b="13399"/>
          <a:stretch>
            <a:fillRect/>
          </a:stretch>
        </p:blipFill>
        <p:spPr>
          <a:xfrm>
            <a:off x="4361796" y="3737829"/>
            <a:ext cx="809297" cy="36933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B6EA911-785E-9FD5-AD3C-35B6B9D08F8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48571" t="24123" r="39466" b="17419"/>
          <a:stretch>
            <a:fillRect/>
          </a:stretch>
        </p:blipFill>
        <p:spPr>
          <a:xfrm rot="10800000">
            <a:off x="4361795" y="4185743"/>
            <a:ext cx="809297" cy="2922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3B2278B-E19D-9E2E-93C5-35B0CB80950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48505" t="17053" r="39533" b="17419"/>
          <a:stretch>
            <a:fillRect/>
          </a:stretch>
        </p:blipFill>
        <p:spPr>
          <a:xfrm rot="10800000" flipH="1">
            <a:off x="4361794" y="4535750"/>
            <a:ext cx="809298" cy="327540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63321B4-4F1C-9315-8365-FBA2D70389C5}"/>
              </a:ext>
            </a:extLst>
          </p:cNvPr>
          <p:cNvCxnSpPr>
            <a:cxnSpLocks/>
          </p:cNvCxnSpPr>
          <p:nvPr/>
        </p:nvCxnSpPr>
        <p:spPr>
          <a:xfrm>
            <a:off x="5293398" y="3915513"/>
            <a:ext cx="820231" cy="7419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FDA9B99-3CA0-EDC5-6759-DCACAABB4C25}"/>
              </a:ext>
            </a:extLst>
          </p:cNvPr>
          <p:cNvCxnSpPr>
            <a:cxnSpLocks/>
          </p:cNvCxnSpPr>
          <p:nvPr/>
        </p:nvCxnSpPr>
        <p:spPr>
          <a:xfrm flipV="1">
            <a:off x="5279809" y="3951695"/>
            <a:ext cx="798812" cy="7709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D5DE24F-11A6-28A2-A69D-0FE3A76E7591}"/>
              </a:ext>
            </a:extLst>
          </p:cNvPr>
          <p:cNvCxnSpPr>
            <a:cxnSpLocks/>
          </p:cNvCxnSpPr>
          <p:nvPr/>
        </p:nvCxnSpPr>
        <p:spPr>
          <a:xfrm>
            <a:off x="5279808" y="3872969"/>
            <a:ext cx="781587" cy="360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150D5B4-4071-0DD3-2DA5-54F6507707FC}"/>
              </a:ext>
            </a:extLst>
          </p:cNvPr>
          <p:cNvCxnSpPr>
            <a:cxnSpLocks/>
          </p:cNvCxnSpPr>
          <p:nvPr/>
        </p:nvCxnSpPr>
        <p:spPr>
          <a:xfrm flipV="1">
            <a:off x="5279810" y="3867614"/>
            <a:ext cx="774153" cy="24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B65CCBEB-99F8-6EB2-1617-6ADEC9192E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0881" y="3717502"/>
            <a:ext cx="955903" cy="343345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2AB49B64-13EE-A2EB-A06A-7021DEF80D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V="1">
            <a:off x="6160881" y="4092558"/>
            <a:ext cx="955903" cy="343345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9DA0EB0C-2979-F99D-4644-B73E92FFEC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 flipV="1">
            <a:off x="6160880" y="4477943"/>
            <a:ext cx="955903" cy="343345"/>
          </a:xfrm>
          <a:prstGeom prst="rect">
            <a:avLst/>
          </a:prstGeom>
        </p:spPr>
      </p:pic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929E4F8-AA82-0226-E944-D5CECB053D02}"/>
              </a:ext>
            </a:extLst>
          </p:cNvPr>
          <p:cNvCxnSpPr>
            <a:cxnSpLocks/>
          </p:cNvCxnSpPr>
          <p:nvPr/>
        </p:nvCxnSpPr>
        <p:spPr>
          <a:xfrm>
            <a:off x="5228764" y="4297466"/>
            <a:ext cx="849857" cy="4025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9E1524D-4B10-E90D-F47B-772C28D88312}"/>
              </a:ext>
            </a:extLst>
          </p:cNvPr>
          <p:cNvCxnSpPr>
            <a:cxnSpLocks/>
          </p:cNvCxnSpPr>
          <p:nvPr/>
        </p:nvCxnSpPr>
        <p:spPr>
          <a:xfrm flipV="1">
            <a:off x="5212930" y="3922495"/>
            <a:ext cx="841033" cy="371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6F092AD-E431-86BA-E955-D7165B41727D}"/>
              </a:ext>
            </a:extLst>
          </p:cNvPr>
          <p:cNvCxnSpPr>
            <a:cxnSpLocks/>
          </p:cNvCxnSpPr>
          <p:nvPr/>
        </p:nvCxnSpPr>
        <p:spPr>
          <a:xfrm>
            <a:off x="5220362" y="4288158"/>
            <a:ext cx="8336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CFFA9B3-D4FB-7718-2B03-3597D0725085}"/>
              </a:ext>
            </a:extLst>
          </p:cNvPr>
          <p:cNvCxnSpPr>
            <a:cxnSpLocks/>
          </p:cNvCxnSpPr>
          <p:nvPr/>
        </p:nvCxnSpPr>
        <p:spPr>
          <a:xfrm flipV="1">
            <a:off x="5279809" y="4743633"/>
            <a:ext cx="805368" cy="20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DC9009D-8DA5-23EA-3A61-20525418822C}"/>
              </a:ext>
            </a:extLst>
          </p:cNvPr>
          <p:cNvCxnSpPr>
            <a:cxnSpLocks/>
          </p:cNvCxnSpPr>
          <p:nvPr/>
        </p:nvCxnSpPr>
        <p:spPr>
          <a:xfrm flipV="1">
            <a:off x="5293796" y="4337154"/>
            <a:ext cx="760167" cy="3781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85F36C8-5546-FFBD-9619-C55310A0C1CC}"/>
              </a:ext>
            </a:extLst>
          </p:cNvPr>
          <p:cNvCxnSpPr>
            <a:cxnSpLocks/>
          </p:cNvCxnSpPr>
          <p:nvPr/>
        </p:nvCxnSpPr>
        <p:spPr>
          <a:xfrm>
            <a:off x="7191431" y="3864951"/>
            <a:ext cx="333979" cy="1172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D8DF371F-C0E4-928A-7EBA-07ED2DA36CE0}"/>
              </a:ext>
            </a:extLst>
          </p:cNvPr>
          <p:cNvCxnSpPr>
            <a:cxnSpLocks/>
          </p:cNvCxnSpPr>
          <p:nvPr/>
        </p:nvCxnSpPr>
        <p:spPr>
          <a:xfrm>
            <a:off x="7191431" y="4280020"/>
            <a:ext cx="333979" cy="64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AEE2134-2749-4357-7DEC-5C9A83D158DA}"/>
              </a:ext>
            </a:extLst>
          </p:cNvPr>
          <p:cNvCxnSpPr>
            <a:cxnSpLocks/>
          </p:cNvCxnSpPr>
          <p:nvPr/>
        </p:nvCxnSpPr>
        <p:spPr>
          <a:xfrm flipV="1">
            <a:off x="7191430" y="4584355"/>
            <a:ext cx="333980" cy="899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4 General Fully Connected Neural Networks | The Mathematical Engineering of  Deep Learning (2021)">
            <a:extLst>
              <a:ext uri="{FF2B5EF4-FFF2-40B4-BE49-F238E27FC236}">
                <a16:creationId xmlns:a16="http://schemas.microsoft.com/office/drawing/2014/main" id="{56762850-7EA9-F26F-CBD6-0BBA2089E7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082"/>
          <a:stretch>
            <a:fillRect/>
          </a:stretch>
        </p:blipFill>
        <p:spPr bwMode="auto">
          <a:xfrm>
            <a:off x="7534567" y="3956765"/>
            <a:ext cx="955904" cy="67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0CBBD572-1378-EB14-9DC8-0E87B384B6E3}"/>
                  </a:ext>
                </a:extLst>
              </p:cNvPr>
              <p:cNvSpPr txBox="1"/>
              <p:nvPr/>
            </p:nvSpPr>
            <p:spPr>
              <a:xfrm>
                <a:off x="5014506" y="4972205"/>
                <a:ext cx="31951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Small CNN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nb-N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5000</m:t>
                    </m:r>
                  </m:oMath>
                </a14:m>
                <a:r>
                  <a:rPr lang="en-US" dirty="0"/>
                  <a:t> params)</a:t>
                </a: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0CBBD572-1378-EB14-9DC8-0E87B384B6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4506" y="4972205"/>
                <a:ext cx="3195145" cy="369332"/>
              </a:xfrm>
              <a:prstGeom prst="rect">
                <a:avLst/>
              </a:prstGeom>
              <a:blipFill>
                <a:blip r:embed="rId8"/>
                <a:stretch>
                  <a:fillRect l="-1984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TextBox 81">
            <a:extLst>
              <a:ext uri="{FF2B5EF4-FFF2-40B4-BE49-F238E27FC236}">
                <a16:creationId xmlns:a16="http://schemas.microsoft.com/office/drawing/2014/main" id="{DEBFF068-FD8A-E5A1-F6EB-07E89802907C}"/>
              </a:ext>
            </a:extLst>
          </p:cNvPr>
          <p:cNvSpPr txBox="1"/>
          <p:nvPr/>
        </p:nvSpPr>
        <p:spPr>
          <a:xfrm>
            <a:off x="8094978" y="3970850"/>
            <a:ext cx="8092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Break Prob</a:t>
            </a:r>
          </a:p>
        </p:txBody>
      </p:sp>
      <p:sp>
        <p:nvSpPr>
          <p:cNvPr id="83" name="Right Arrow 82">
            <a:extLst>
              <a:ext uri="{FF2B5EF4-FFF2-40B4-BE49-F238E27FC236}">
                <a16:creationId xmlns:a16="http://schemas.microsoft.com/office/drawing/2014/main" id="{A466EF34-74BC-F5D5-F274-B261F179529D}"/>
              </a:ext>
            </a:extLst>
          </p:cNvPr>
          <p:cNvSpPr/>
          <p:nvPr/>
        </p:nvSpPr>
        <p:spPr>
          <a:xfrm>
            <a:off x="8834743" y="4084787"/>
            <a:ext cx="432278" cy="298113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A3F581F8-A71E-FD3D-988E-475B26F0F654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35000"/>
          </a:blip>
          <a:srcRect r="46465"/>
          <a:stretch>
            <a:fillRect/>
          </a:stretch>
        </p:blipFill>
        <p:spPr>
          <a:xfrm>
            <a:off x="9363141" y="3806348"/>
            <a:ext cx="1888538" cy="830276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A339ACAC-2283-FD38-E031-CB43858733B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93561"/>
          <a:stretch>
            <a:fillRect/>
          </a:stretch>
        </p:blipFill>
        <p:spPr>
          <a:xfrm>
            <a:off x="11614423" y="3786905"/>
            <a:ext cx="227144" cy="830276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3B87D783-A997-DC54-9013-A661971D7F4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52889" r="42751"/>
          <a:stretch>
            <a:fillRect/>
          </a:stretch>
        </p:blipFill>
        <p:spPr>
          <a:xfrm>
            <a:off x="11239405" y="3797703"/>
            <a:ext cx="153807" cy="830276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2CA3A84E-2C84-E0AD-829E-38A671125A45}"/>
              </a:ext>
            </a:extLst>
          </p:cNvPr>
          <p:cNvSpPr txBox="1"/>
          <p:nvPr/>
        </p:nvSpPr>
        <p:spPr>
          <a:xfrm>
            <a:off x="9363141" y="4972205"/>
            <a:ext cx="3195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 break prediction</a:t>
            </a:r>
          </a:p>
        </p:txBody>
      </p:sp>
    </p:spTree>
    <p:extLst>
      <p:ext uri="{BB962C8B-B14F-4D97-AF65-F5344CB8AC3E}">
        <p14:creationId xmlns:p14="http://schemas.microsoft.com/office/powerpoint/2010/main" val="2601286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A5809-65AE-44CE-0E2A-651EB4967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Where is the Interpretability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077990-7845-ECAF-B11C-A02CC2EECD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204"/>
          <a:stretch>
            <a:fillRect/>
          </a:stretch>
        </p:blipFill>
        <p:spPr>
          <a:xfrm>
            <a:off x="126124" y="1517974"/>
            <a:ext cx="6966749" cy="25128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4A6D155-524E-9BDD-68B6-1E394AA0E128}"/>
                  </a:ext>
                </a:extLst>
              </p:cNvPr>
              <p:cNvSpPr txBox="1"/>
              <p:nvPr/>
            </p:nvSpPr>
            <p:spPr>
              <a:xfrm>
                <a:off x="6840625" y="1443305"/>
                <a:ext cx="5017671" cy="26520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b-NO" sz="3600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begChr m:val="["/>
                          <m:endChr m:val="]"/>
                          <m:ctrlPr>
                            <a:rPr lang="nb-NO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nb-NO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nb-NO" sz="3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nb-NO" sz="36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nb-NO" sz="3600" b="0" i="1" smtClean="0">
                                          <a:latin typeface="Cambria Math" panose="02040503050406030204" pitchFamily="18" charset="0"/>
                                        </a:rPr>
                                        <m:t>𝑜𝑜𝑙</m:t>
                                      </m:r>
                                      <m:r>
                                        <a:rPr lang="nb-NO" sz="3600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nb-NO" sz="3600" b="0" i="1" smtClean="0">
                                          <a:latin typeface="Cambria Math" panose="02040503050406030204" pitchFamily="18" charset="0"/>
                                        </a:rPr>
                                        <m:t>𝑑𝑖𝑎𝑚𝑒𝑡𝑒𝑟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nb-NO" sz="3600" b="0" i="1" smtClean="0">
                                          <a:latin typeface="Cambria Math" panose="02040503050406030204" pitchFamily="18" charset="0"/>
                                        </a:rPr>
                                        <m:t>𝑓𝑒𝑒𝑑</m:t>
                                      </m:r>
                                      <m:r>
                                        <a:rPr lang="nb-NO" sz="3600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nb-NO" sz="3600" b="0" i="1" smtClean="0">
                                          <a:latin typeface="Cambria Math" panose="02040503050406030204" pitchFamily="18" charset="0"/>
                                        </a:rPr>
                                        <m:t>𝑟𝑎𝑡𝑒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nb-NO" sz="3600" b="0" i="1" smtClean="0">
                                          <a:latin typeface="Cambria Math" panose="02040503050406030204" pitchFamily="18" charset="0"/>
                                        </a:rPr>
                                        <m:t>𝑡𝑜𝑜𝑡h</m:t>
                                      </m:r>
                                      <m:r>
                                        <a:rPr lang="nb-NO" sz="3600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nb-NO" sz="3600" b="0" i="1" smtClean="0">
                                          <a:latin typeface="Cambria Math" panose="02040503050406030204" pitchFamily="18" charset="0"/>
                                        </a:rPr>
                                        <m:t>𝑛𝑢𝑚𝑏𝑒𝑟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nb-NO" sz="3600" b="0" i="1" smtClean="0">
                                    <a:latin typeface="Cambria Math" panose="02040503050406030204" pitchFamily="18" charset="0"/>
                                  </a:rPr>
                                  <m:t>𝑠𝑝𝑖𝑛𝑑𝑙𝑒</m:t>
                                </m:r>
                                <m:r>
                                  <a:rPr lang="nb-NO" sz="3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nb-NO" sz="3600" b="0" i="1" smtClean="0">
                                    <a:latin typeface="Cambria Math" panose="02040503050406030204" pitchFamily="18" charset="0"/>
                                  </a:rPr>
                                  <m:t>𝑓𝑟𝑒𝑞</m:t>
                                </m:r>
                                <m:r>
                                  <a:rPr lang="nb-NO" sz="36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mr>
                            <m:mr>
                              <m:e>
                                <m:r>
                                  <a:rPr lang="nb-NO" sz="36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4A6D155-524E-9BDD-68B6-1E394AA0E1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0625" y="1443305"/>
                <a:ext cx="5017671" cy="2652008"/>
              </a:xfrm>
              <a:prstGeom prst="rect">
                <a:avLst/>
              </a:prstGeom>
              <a:blipFill>
                <a:blip r:embed="rId3"/>
                <a:stretch>
                  <a:fillRect t="-1905" b="-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E31A2A2-EE86-8CD7-8E39-1594C5ED1217}"/>
              </a:ext>
            </a:extLst>
          </p:cNvPr>
          <p:cNvSpPr txBox="1"/>
          <p:nvPr/>
        </p:nvSpPr>
        <p:spPr>
          <a:xfrm>
            <a:off x="444570" y="4181345"/>
            <a:ext cx="6329855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The harmonic weights tell us what harmonics are important under what operational settings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2315852-9951-5A79-1259-759DF818AD3E}"/>
              </a:ext>
            </a:extLst>
          </p:cNvPr>
          <p:cNvCxnSpPr>
            <a:cxnSpLocks/>
          </p:cNvCxnSpPr>
          <p:nvPr/>
        </p:nvCxnSpPr>
        <p:spPr>
          <a:xfrm flipH="1" flipV="1">
            <a:off x="7945820" y="3135511"/>
            <a:ext cx="273270" cy="12086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B3B309E-EC66-5A10-9FE5-31F83C73F1B9}"/>
              </a:ext>
            </a:extLst>
          </p:cNvPr>
          <p:cNvSpPr txBox="1"/>
          <p:nvPr/>
        </p:nvSpPr>
        <p:spPr>
          <a:xfrm>
            <a:off x="7630510" y="4458344"/>
            <a:ext cx="2532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Learned weight matrix</a:t>
            </a:r>
          </a:p>
        </p:txBody>
      </p:sp>
    </p:spTree>
    <p:extLst>
      <p:ext uri="{BB962C8B-B14F-4D97-AF65-F5344CB8AC3E}">
        <p14:creationId xmlns:p14="http://schemas.microsoft.com/office/powerpoint/2010/main" val="2584061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</TotalTime>
  <Words>128</Words>
  <Application>Microsoft Macintosh PowerPoint</Application>
  <PresentationFormat>Widescreen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Office Theme</vt:lpstr>
      <vt:lpstr>LFL Classical ML Notification System</vt:lpstr>
      <vt:lpstr>Assumptions and design</vt:lpstr>
      <vt:lpstr>Pipeline</vt:lpstr>
      <vt:lpstr>Where is the Interpretability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Sondre Sigstad Wikberg</dc:creator>
  <cp:lastModifiedBy>Sondre Sigstad Wikberg</cp:lastModifiedBy>
  <cp:revision>2</cp:revision>
  <dcterms:created xsi:type="dcterms:W3CDTF">2026-04-09T07:15:18Z</dcterms:created>
  <dcterms:modified xsi:type="dcterms:W3CDTF">2026-05-04T07:22:01Z</dcterms:modified>
</cp:coreProperties>
</file>